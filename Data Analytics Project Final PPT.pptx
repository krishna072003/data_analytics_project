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05" r:id="rId5"/>
    <p:sldId id="321" r:id="rId6"/>
    <p:sldId id="306" r:id="rId7"/>
    <p:sldId id="319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22" r:id="rId19"/>
    <p:sldId id="320" r:id="rId20"/>
    <p:sldId id="31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82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2728915"/>
            <a:ext cx="11088816" cy="885824"/>
          </a:xfrm>
        </p:spPr>
        <p:txBody>
          <a:bodyPr/>
          <a:lstStyle/>
          <a:p>
            <a:r>
              <a:rPr lang="en-IN" sz="7200" b="1" dirty="0"/>
              <a:t>Insurance Analytics</a:t>
            </a:r>
            <a:endParaRPr lang="en-US" sz="72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487DF7-7B95-309E-0F15-7A2813F2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3614739"/>
            <a:ext cx="10607612" cy="442913"/>
          </a:xfrm>
        </p:spPr>
        <p:txBody>
          <a:bodyPr/>
          <a:lstStyle/>
          <a:p>
            <a:r>
              <a:rPr lang="en-IN" sz="2800" dirty="0"/>
              <a:t>Data Analytics Final Project</a:t>
            </a: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18C6-9ECB-A0E3-4009-7AA88BB0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18C071-D370-C907-0B08-744D7F82F399}"/>
              </a:ext>
            </a:extLst>
          </p:cNvPr>
          <p:cNvSpPr/>
          <p:nvPr/>
        </p:nvSpPr>
        <p:spPr>
          <a:xfrm>
            <a:off x="1057275" y="2800350"/>
            <a:ext cx="3471863" cy="252376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/>
                </a:solidFill>
              </a:rPr>
              <a:t>Abirami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/>
                </a:solidFill>
              </a:rPr>
              <a:t>Mahendra Singh</a:t>
            </a:r>
          </a:p>
          <a:p>
            <a:pPr algn="ctr"/>
            <a:endParaRPr lang="en-IN" dirty="0">
              <a:solidFill>
                <a:schemeClr val="l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7579D-A286-6472-33F5-052C1453DEFE}"/>
              </a:ext>
            </a:extLst>
          </p:cNvPr>
          <p:cNvSpPr/>
          <p:nvPr/>
        </p:nvSpPr>
        <p:spPr>
          <a:xfrm>
            <a:off x="1285874" y="1900238"/>
            <a:ext cx="2986089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lt1"/>
                </a:solidFill>
              </a:rPr>
              <a:t>Mentors</a:t>
            </a:r>
            <a:endParaRPr lang="en-IN" sz="2000" b="1" dirty="0">
              <a:solidFill>
                <a:schemeClr val="l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64F50-6C65-3968-1E40-1FB4FF775511}"/>
              </a:ext>
            </a:extLst>
          </p:cNvPr>
          <p:cNvSpPr txBox="1"/>
          <p:nvPr/>
        </p:nvSpPr>
        <p:spPr>
          <a:xfrm>
            <a:off x="685800" y="557213"/>
            <a:ext cx="10572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Mentors  &amp; Team Details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E68E3D-7683-EDAA-B6C6-5EAE2DCA20E6}"/>
              </a:ext>
            </a:extLst>
          </p:cNvPr>
          <p:cNvSpPr/>
          <p:nvPr/>
        </p:nvSpPr>
        <p:spPr>
          <a:xfrm>
            <a:off x="7134225" y="1900238"/>
            <a:ext cx="2986089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lt1"/>
                </a:solidFill>
              </a:rPr>
              <a:t>Team Members</a:t>
            </a:r>
            <a:endParaRPr lang="en-IN" sz="2000" b="1" dirty="0">
              <a:solidFill>
                <a:schemeClr val="lt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A1FA13-3279-E02A-1F61-8C19BAC13FA0}"/>
              </a:ext>
            </a:extLst>
          </p:cNvPr>
          <p:cNvSpPr/>
          <p:nvPr/>
        </p:nvSpPr>
        <p:spPr>
          <a:xfrm>
            <a:off x="6891339" y="2800350"/>
            <a:ext cx="3471863" cy="252376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l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l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/>
                </a:solidFill>
              </a:rPr>
              <a:t>CH. Naga Krishna Mohith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/>
                </a:solidFill>
              </a:rPr>
              <a:t>Srija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lt1"/>
                </a:solidFill>
              </a:rPr>
              <a:t>Hadkey</a:t>
            </a:r>
            <a:r>
              <a:rPr lang="en-US" sz="2000" dirty="0">
                <a:solidFill>
                  <a:schemeClr val="lt1"/>
                </a:solidFill>
              </a:rPr>
              <a:t> Shweta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/>
                </a:solidFill>
              </a:rPr>
              <a:t>Rishab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/>
                </a:solidFill>
              </a:rPr>
              <a:t>Akshitha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lt1"/>
                </a:solidFill>
              </a:rPr>
              <a:t>Mufeez</a:t>
            </a:r>
            <a:endParaRPr lang="en-US" sz="2000" dirty="0">
              <a:solidFill>
                <a:schemeClr val="lt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lt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280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sz="4400" dirty="0"/>
              <a:t>Agenda: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C5245B-50F7-A1E4-893E-29661E55454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41375" y="1391395"/>
            <a:ext cx="904557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Project Introduction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&amp;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Performance Indicators (KPIs)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Analysis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Dashboards &amp;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Conclusion</a:t>
            </a:r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3087-2F87-8110-3CDB-03EACA7F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21" y="562356"/>
            <a:ext cx="10479024" cy="557784"/>
          </a:xfrm>
        </p:spPr>
        <p:txBody>
          <a:bodyPr/>
          <a:lstStyle/>
          <a:p>
            <a:r>
              <a:rPr lang="en-US" sz="4400" dirty="0"/>
              <a:t>Project introduction: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8344-718B-7411-40D6-042B18D8F4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3521" y="1536827"/>
            <a:ext cx="9657779" cy="4978273"/>
          </a:xfrm>
        </p:spPr>
        <p:txBody>
          <a:bodyPr>
            <a:normAutofit fontScale="25000" lnSpcReduction="20000"/>
          </a:bodyPr>
          <a:lstStyle/>
          <a:p>
            <a:r>
              <a:rPr lang="en-US" sz="7200" b="1" dirty="0"/>
              <a:t>Project Introduction:-</a:t>
            </a:r>
            <a:br>
              <a:rPr lang="en-US" sz="7200" dirty="0"/>
            </a:br>
            <a:r>
              <a:rPr lang="en-US" sz="7200" dirty="0"/>
              <a:t>This presentation showcases an end-to-end Insurance Portfolio and Claims Data Analytics project developed using real-world data.</a:t>
            </a:r>
            <a:br>
              <a:rPr lang="en-US" sz="7200" dirty="0"/>
            </a:br>
            <a:r>
              <a:rPr lang="en-US" sz="7200" dirty="0"/>
              <a:t>The project demonstrates how raw insurance data can be transformed into meaningful business insights.</a:t>
            </a:r>
          </a:p>
          <a:p>
            <a:r>
              <a:rPr lang="en-US" sz="7200" b="1" dirty="0"/>
              <a:t>Purpose of the Project:-</a:t>
            </a:r>
            <a:br>
              <a:rPr lang="en-US" sz="7200" dirty="0"/>
            </a:br>
            <a:r>
              <a:rPr lang="en-US" sz="7200" dirty="0"/>
              <a:t>The objective of this project is to analyze policy, premium, and claims information to understand portfolio performance.</a:t>
            </a:r>
            <a:br>
              <a:rPr lang="en-US" sz="7200" dirty="0"/>
            </a:br>
            <a:r>
              <a:rPr lang="en-US" sz="7200" dirty="0"/>
              <a:t>It focuses on identifying trends, risk areas, and key performance indicators for informed decision-making.</a:t>
            </a:r>
          </a:p>
          <a:p>
            <a:r>
              <a:rPr lang="en-US" sz="7200" b="1" dirty="0"/>
              <a:t>Analytical Perspective:-</a:t>
            </a:r>
            <a:br>
              <a:rPr lang="en-US" sz="7200" dirty="0"/>
            </a:br>
            <a:r>
              <a:rPr lang="en-US" sz="7200" dirty="0"/>
              <a:t>A structured analytics approach was followed, covering data cleaning, integration, analysis, and visualization.</a:t>
            </a:r>
            <a:br>
              <a:rPr lang="en-US" sz="7200" dirty="0"/>
            </a:br>
            <a:r>
              <a:rPr lang="en-US" sz="7200" dirty="0"/>
              <a:t>Industry-standard tools such as Excel, SQL, Power BI, and Tableau were used throughout the project.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ABFB-DBE9-D513-63D1-988B12412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0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A3E378-9E65-D5BE-1E2F-504ECB4458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585788"/>
            <a:ext cx="9802941" cy="557784"/>
          </a:xfrm>
        </p:spPr>
        <p:txBody>
          <a:bodyPr/>
          <a:lstStyle/>
          <a:p>
            <a:r>
              <a:rPr lang="en-IN" sz="4400" b="1" dirty="0"/>
              <a:t>PROJECT OVERVIEW: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E9438-2CE5-B9FD-3627-2EB41D95AF03}"/>
              </a:ext>
            </a:extLst>
          </p:cNvPr>
          <p:cNvSpPr txBox="1"/>
          <p:nvPr/>
        </p:nvSpPr>
        <p:spPr>
          <a:xfrm>
            <a:off x="825244" y="1256467"/>
            <a:ext cx="1070305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Project Focus:-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This project focuses on analyzing insurance policy and claims data.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The goal is to understand portfolio performance and claims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Problem Context:-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Insurance data is complex and spread across multiple sources.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Without analysis, identifying trends and risks becomes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Analytical Workflow:-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An end-to-end analytics approach was followed from data cleaning to visualization.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This ensured accuracy, consistency, and meaningful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Business Relevance:-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The insights help insurers monitor claims, renewals, and portfolio health.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They support data-driven operational and strategic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IN" sz="4400" dirty="0"/>
              <a:t>PROJECT OBJECTIVES: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5BD1A7-BC46-1B87-2181-E52E86F8424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26985" y="1552453"/>
            <a:ext cx="8859838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Portfolio Analysis:-</a:t>
            </a:r>
            <a:br>
              <a:rPr lang="en-US" dirty="0"/>
            </a:br>
            <a:r>
              <a:rPr lang="en-US" dirty="0"/>
              <a:t>To analyze active policies, total premiums, and portfolio distribution.</a:t>
            </a:r>
            <a:br>
              <a:rPr lang="en-US" dirty="0"/>
            </a:br>
            <a:r>
              <a:rPr lang="en-US" dirty="0"/>
              <a:t>This helps assess overall insurance business performance.</a:t>
            </a:r>
          </a:p>
          <a:p>
            <a:r>
              <a:rPr lang="en-US" b="1" dirty="0"/>
              <a:t>Claims Analysis:-</a:t>
            </a:r>
            <a:br>
              <a:rPr lang="en-US" dirty="0"/>
            </a:br>
            <a:r>
              <a:rPr lang="en-US" dirty="0"/>
              <a:t>To study total claims, claim amounts, and claim trends over time.</a:t>
            </a:r>
            <a:br>
              <a:rPr lang="en-US" dirty="0"/>
            </a:br>
            <a:r>
              <a:rPr lang="en-US" dirty="0"/>
              <a:t>This helps identify risk patterns and claim-heavy segments.</a:t>
            </a:r>
          </a:p>
          <a:p>
            <a:r>
              <a:rPr lang="en-US" b="1" dirty="0"/>
              <a:t>Renewal &amp; Status Analysis:-</a:t>
            </a:r>
            <a:br>
              <a:rPr lang="en-US" dirty="0"/>
            </a:br>
            <a:r>
              <a:rPr lang="en-US" dirty="0"/>
              <a:t>To analyze policy renewal, endorsement, inception, and lapse status.</a:t>
            </a:r>
            <a:br>
              <a:rPr lang="en-US" dirty="0"/>
            </a:br>
            <a:r>
              <a:rPr lang="en-US" dirty="0"/>
              <a:t>This helps understand customer retention and policy lifecycle.</a:t>
            </a:r>
          </a:p>
          <a:p>
            <a:r>
              <a:rPr lang="en-US" b="1" dirty="0"/>
              <a:t>Insight Communication:-</a:t>
            </a:r>
            <a:br>
              <a:rPr lang="en-US" dirty="0"/>
            </a:br>
            <a:r>
              <a:rPr lang="en-US" dirty="0"/>
              <a:t>To present findings using clear and interactive dashboards.</a:t>
            </a:r>
            <a:br>
              <a:rPr lang="en-US" dirty="0"/>
            </a:br>
            <a:r>
              <a:rPr lang="en-US" dirty="0"/>
              <a:t>This improves understanding for business and technical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DATASET OVERVIEW:</a:t>
            </a:r>
            <a:br>
              <a:rPr lang="en-IN" sz="44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6DA25-1172-208C-2C26-5E3AF67E1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4136" y="1636205"/>
            <a:ext cx="10479214" cy="33929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Sources:-</a:t>
            </a:r>
            <a:br>
              <a:rPr lang="en-US" sz="2000" dirty="0"/>
            </a:br>
            <a:r>
              <a:rPr lang="en-US" sz="2000" dirty="0"/>
              <a:t>The dataset was created by merging multiple insurance-related files.</a:t>
            </a:r>
            <a:br>
              <a:rPr lang="en-US" sz="2000" dirty="0"/>
            </a:br>
            <a:r>
              <a:rPr lang="en-US" sz="2000" dirty="0"/>
              <a:t>These included policy, claims, client, and solution group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Scope:-</a:t>
            </a:r>
            <a:br>
              <a:rPr lang="en-US" sz="2000" dirty="0"/>
            </a:br>
            <a:r>
              <a:rPr lang="en-US" sz="2000" dirty="0"/>
              <a:t>The final dataset contains cleaned and standardized records.</a:t>
            </a:r>
            <a:br>
              <a:rPr lang="en-US" sz="2000" dirty="0"/>
            </a:br>
            <a:r>
              <a:rPr lang="en-US" sz="2000" dirty="0"/>
              <a:t>It covers multiple years of insurance portfolio and claims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Attributes:-</a:t>
            </a:r>
            <a:br>
              <a:rPr lang="en-US" sz="2000" dirty="0"/>
            </a:br>
            <a:r>
              <a:rPr lang="en-US" sz="2000" dirty="0"/>
              <a:t>Important fields include policy number, client name, claim amount, renewal status, and solution group.</a:t>
            </a:r>
            <a:br>
              <a:rPr lang="en-US" sz="2000" dirty="0"/>
            </a:br>
            <a:r>
              <a:rPr lang="en-US" sz="2000" dirty="0"/>
              <a:t>These fields support KPI calculation and analysis.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86" y="609738"/>
            <a:ext cx="10479024" cy="557784"/>
          </a:xfrm>
        </p:spPr>
        <p:txBody>
          <a:bodyPr/>
          <a:lstStyle/>
          <a:p>
            <a:r>
              <a:rPr lang="en-IN" sz="4400" dirty="0"/>
              <a:t>DATA CLEANING &amp; MERGING:</a:t>
            </a:r>
            <a:endParaRPr lang="en-US" sz="4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A2705B-CB2E-A46E-8259-CE58505742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341642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 Cleaning:-</a:t>
            </a:r>
            <a:br>
              <a:rPr lang="en-US" dirty="0"/>
            </a:br>
            <a:r>
              <a:rPr lang="en-US" dirty="0"/>
              <a:t>Missing values, duplicates, and inconsistent formats were handled.</a:t>
            </a:r>
            <a:br>
              <a:rPr lang="en-US" dirty="0"/>
            </a:br>
            <a:r>
              <a:rPr lang="en-US" dirty="0"/>
              <a:t>This improved data accuracy and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 Merging:-</a:t>
            </a:r>
            <a:br>
              <a:rPr lang="en-US" dirty="0"/>
            </a:br>
            <a:r>
              <a:rPr lang="en-US" dirty="0"/>
              <a:t>Multiple datasets were merged using common identifiers such as policy number.</a:t>
            </a:r>
            <a:br>
              <a:rPr lang="en-US" dirty="0"/>
            </a:br>
            <a:r>
              <a:rPr lang="en-US" dirty="0"/>
              <a:t>This created a single master dataset for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 Readiness:-</a:t>
            </a:r>
            <a:br>
              <a:rPr lang="en-US" dirty="0"/>
            </a:br>
            <a:r>
              <a:rPr lang="en-US" dirty="0"/>
              <a:t>The cleaned dataset was validated before dashboard creation.</a:t>
            </a:r>
            <a:br>
              <a:rPr lang="en-US" dirty="0"/>
            </a:br>
            <a:r>
              <a:rPr lang="en-US" dirty="0"/>
              <a:t>This ensured correct insights across all tools.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0CA94-03F1-81AF-7311-D7C9AC42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TOOLS &amp; TECHNOLOGIES USED: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Excel:-</a:t>
            </a:r>
            <a:br>
              <a:rPr lang="en-US" dirty="0"/>
            </a:br>
            <a:r>
              <a:rPr lang="en-US" dirty="0"/>
              <a:t>Excel was used for initial data inspection and validation.</a:t>
            </a:r>
            <a:br>
              <a:rPr lang="en-US" dirty="0"/>
            </a:br>
            <a:r>
              <a:rPr lang="en-US" dirty="0"/>
              <a:t>It helped understand data structure and summary statistics.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SQL:-</a:t>
            </a:r>
            <a:br>
              <a:rPr lang="en-US" dirty="0"/>
            </a:br>
            <a:r>
              <a:rPr lang="en-US" dirty="0"/>
              <a:t>SQL was used for filtering, aggregation, and structured analysis.</a:t>
            </a:r>
            <a:br>
              <a:rPr lang="en-US" dirty="0"/>
            </a:br>
            <a:r>
              <a:rPr lang="en-US" dirty="0"/>
              <a:t>It enabled efficient handling of large insurance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Power BI:-</a:t>
            </a:r>
            <a:br>
              <a:rPr lang="en-US" dirty="0"/>
            </a:br>
            <a:r>
              <a:rPr lang="en-US" dirty="0"/>
              <a:t>Power BI was used to build KPI-driven dashboards.</a:t>
            </a:r>
            <a:br>
              <a:rPr lang="en-US" dirty="0"/>
            </a:br>
            <a:r>
              <a:rPr lang="en-US" dirty="0"/>
              <a:t>It provided an interactive view of portfolio and claims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Tableau:-</a:t>
            </a:r>
            <a:br>
              <a:rPr lang="en-US" dirty="0"/>
            </a:br>
            <a:r>
              <a:rPr lang="en-US" dirty="0"/>
              <a:t>Tableau was used for visual analysis and detailed exploration.</a:t>
            </a:r>
            <a:br>
              <a:rPr lang="en-US" dirty="0"/>
            </a:br>
            <a:r>
              <a:rPr lang="en-US" dirty="0"/>
              <a:t>It helped identify trends and distributions visually.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81" y="712661"/>
            <a:ext cx="11730037" cy="557784"/>
          </a:xfrm>
        </p:spPr>
        <p:txBody>
          <a:bodyPr/>
          <a:lstStyle/>
          <a:p>
            <a:r>
              <a:rPr lang="en-IN" sz="4400" dirty="0"/>
              <a:t>KEY PERFORMANCE INDICATORS (KPIs):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DD977-4332-7D76-F599-EBBFE0504DF5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57226" y="1506474"/>
            <a:ext cx="10690224" cy="384505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Portfolio KPIs:-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Portfolio KPIs such as Active Policies, Total Policies, and Total Premium Amount were analyzed.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These metrics help assess the overall size, health, and value of the insurance portfolio.</a:t>
            </a:r>
          </a:p>
          <a:p>
            <a:r>
              <a:rPr lang="en-US" b="1" dirty="0">
                <a:solidFill>
                  <a:schemeClr val="bg1"/>
                </a:solidFill>
              </a:rPr>
              <a:t>Claims KPIs:-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Claims KPIs include Total Claims, Total Claim Amount, and Average Claim Amount.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These indicators help understand claim frequency and financial impact.</a:t>
            </a:r>
          </a:p>
          <a:p>
            <a:r>
              <a:rPr lang="en-US" b="1" dirty="0">
                <a:solidFill>
                  <a:schemeClr val="bg1"/>
                </a:solidFill>
              </a:rPr>
              <a:t>Renewal &amp; Status KPIs:-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Policy status KPIs such as Renewal, Endorsement, Inception, and Lapse were evaluated.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They provide insights into policy lifecycle and customer retention behavior.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F643-9DF2-B730-72CE-75663E4F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585786"/>
            <a:ext cx="10479024" cy="557784"/>
          </a:xfrm>
        </p:spPr>
        <p:txBody>
          <a:bodyPr/>
          <a:lstStyle/>
          <a:p>
            <a:r>
              <a:rPr lang="en-IN" sz="4400" dirty="0"/>
              <a:t>POWER BI DASHBOARD OVERVIEW: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F29AD4-BB7A-FB89-7276-12ECA4CCCE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086" y="1393953"/>
            <a:ext cx="3416428" cy="4479925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/>
              <a:t>Portfolio &amp; Claims Overview:-</a:t>
            </a:r>
            <a:br>
              <a:rPr lang="en-US" sz="2200" dirty="0"/>
            </a:br>
            <a:r>
              <a:rPr lang="en-US" sz="2200" dirty="0"/>
              <a:t>This Power BI dashboard presents a consolidated view of insurance portfolio and claims performance.</a:t>
            </a:r>
            <a:br>
              <a:rPr lang="en-US" sz="2200" dirty="0"/>
            </a:br>
            <a:r>
              <a:rPr lang="en-US" sz="2200" dirty="0"/>
              <a:t>It highlights key KPIs, policy status distribution, and premium trends.</a:t>
            </a:r>
          </a:p>
          <a:p>
            <a:r>
              <a:rPr lang="en-US" sz="2200" b="1" dirty="0"/>
              <a:t>Interactive Analysis:-</a:t>
            </a:r>
            <a:br>
              <a:rPr lang="en-US" sz="2200" dirty="0"/>
            </a:br>
            <a:r>
              <a:rPr lang="en-US" sz="2200" dirty="0"/>
              <a:t>Slicers such as income class, renewal status, and solution group enable dynamic filtering.</a:t>
            </a:r>
            <a:br>
              <a:rPr lang="en-US" sz="2200" dirty="0"/>
            </a:br>
            <a:r>
              <a:rPr lang="en-US" sz="2200" dirty="0"/>
              <a:t>This allows users to analyze performance from multiple perspectives.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768119-ACBA-B300-D19E-619E56C0B21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214813" y="1393953"/>
            <a:ext cx="6891338" cy="4735386"/>
          </a:xfrm>
        </p:spPr>
      </p:pic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03ED-5845-9B34-EF4D-77F260C5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D2F78-C79D-8E8A-B75D-97C7A1F94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623" y="1892300"/>
            <a:ext cx="3603753" cy="449240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Detailed Claims Breakdown</a:t>
            </a:r>
            <a:br>
              <a:rPr lang="en-US" sz="2000" dirty="0"/>
            </a:br>
            <a:r>
              <a:rPr lang="en-US" sz="2000" dirty="0"/>
              <a:t>This dashboard focuses on detailed claims analysis by client, solution group, and renewal status.</a:t>
            </a:r>
            <a:br>
              <a:rPr lang="en-US" sz="2000" dirty="0"/>
            </a:br>
            <a:r>
              <a:rPr lang="en-US" sz="2000" dirty="0"/>
              <a:t>It helps identify claim-heavy segments and high-value clients.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Trend &amp; Distribution Analysis</a:t>
            </a:r>
            <a:br>
              <a:rPr lang="en-US" sz="2000" dirty="0"/>
            </a:br>
            <a:r>
              <a:rPr lang="en-US" sz="2000" dirty="0"/>
              <a:t>Claims distribution and trends over time are visualized clearly.</a:t>
            </a:r>
            <a:br>
              <a:rPr lang="en-US" sz="2000" dirty="0"/>
            </a:br>
            <a:r>
              <a:rPr lang="en-US" sz="2000" dirty="0"/>
              <a:t>This supports risk assessment and operational decision-making.</a:t>
            </a:r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3A90-2ED2-EF64-F9B3-7807A3275B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12752-4001-8936-A72B-EE8FA5AFD6AB}"/>
              </a:ext>
            </a:extLst>
          </p:cNvPr>
          <p:cNvSpPr txBox="1"/>
          <p:nvPr/>
        </p:nvSpPr>
        <p:spPr>
          <a:xfrm>
            <a:off x="160338" y="893625"/>
            <a:ext cx="11215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DETAILED CLAIMS ANALYSIS: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E9062258-765E-16F8-1D01-3F9AC1B3F49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829" r="15498"/>
          <a:stretch>
            <a:fillRect/>
          </a:stretch>
        </p:blipFill>
        <p:spPr>
          <a:xfrm>
            <a:off x="4543425" y="1757140"/>
            <a:ext cx="6832600" cy="4627563"/>
          </a:xfrm>
        </p:spPr>
      </p:pic>
    </p:spTree>
    <p:extLst>
      <p:ext uri="{BB962C8B-B14F-4D97-AF65-F5344CB8AC3E}">
        <p14:creationId xmlns:p14="http://schemas.microsoft.com/office/powerpoint/2010/main" val="947225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5D8FACD9-4906-4691-55B9-710FC59D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11" y="282829"/>
            <a:ext cx="10479024" cy="557784"/>
          </a:xfrm>
        </p:spPr>
        <p:txBody>
          <a:bodyPr/>
          <a:lstStyle/>
          <a:p>
            <a:r>
              <a:rPr lang="en-IN" sz="4400" dirty="0"/>
              <a:t>EXCEL ANALYSIS &amp; DATA VALIDATION:</a:t>
            </a:r>
            <a:endParaRPr lang="en-US" sz="4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E036BD-21ED-9D1E-A7F6-8B04362B308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l="3" r="48647"/>
          <a:stretch>
            <a:fillRect/>
          </a:stretch>
        </p:blipFill>
        <p:spPr>
          <a:xfrm>
            <a:off x="5414962" y="1536827"/>
            <a:ext cx="6457950" cy="467823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BE69DB-EB7F-7D51-21C7-1F1465C754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7" y="1536827"/>
            <a:ext cx="4559428" cy="4049586"/>
          </a:xfrm>
        </p:spPr>
        <p:txBody>
          <a:bodyPr>
            <a:normAutofit fontScale="3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200" b="1" dirty="0"/>
              <a:t>Data Validation</a:t>
            </a:r>
            <a:br>
              <a:rPr lang="en-US" sz="6200" dirty="0"/>
            </a:br>
            <a:r>
              <a:rPr lang="en-US" sz="6200" dirty="0"/>
              <a:t>Excel was used to validate cleaned and merged insurance data.</a:t>
            </a:r>
            <a:br>
              <a:rPr lang="en-US" sz="6200" dirty="0"/>
            </a:br>
            <a:r>
              <a:rPr lang="en-US" sz="6200" dirty="0"/>
              <a:t>It ensures consistency between raw data and dashboard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200" b="1" dirty="0"/>
              <a:t>Detailed Drill-Down</a:t>
            </a:r>
            <a:br>
              <a:rPr lang="en-US" sz="6200" dirty="0"/>
            </a:br>
            <a:r>
              <a:rPr lang="en-US" sz="6200" dirty="0"/>
              <a:t>Excel provides record-level visibility for policies and claims.</a:t>
            </a:r>
            <a:br>
              <a:rPr lang="en-US" sz="6200" dirty="0"/>
            </a:br>
            <a:r>
              <a:rPr lang="en-US" sz="6200" dirty="0"/>
              <a:t>This supports detailed verification and cross-checking of KPIs.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6200" b="1" dirty="0"/>
              <a:t>Supporting Analysis</a:t>
            </a:r>
            <a:br>
              <a:rPr lang="en-US" sz="6200" dirty="0"/>
            </a:br>
            <a:r>
              <a:rPr lang="en-US" sz="6200" dirty="0"/>
              <a:t>Pivot tables and summaries were used for quick calculations.</a:t>
            </a:r>
            <a:br>
              <a:rPr lang="en-US" sz="6200" dirty="0"/>
            </a:br>
            <a:r>
              <a:rPr lang="en-US" sz="6200" dirty="0"/>
              <a:t>This helped validate trends before visualizing them in BI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334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B20A-89F5-0E83-2FBB-597A9E58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35" y="434403"/>
            <a:ext cx="10479024" cy="557784"/>
          </a:xfrm>
        </p:spPr>
        <p:txBody>
          <a:bodyPr/>
          <a:lstStyle/>
          <a:p>
            <a:r>
              <a:rPr lang="en-IN" sz="4400" dirty="0"/>
              <a:t>TABLEAU DASHBOARD OVERVIEW: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1F25F4-9D5B-F843-24A2-BF1F692DF9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115" y="1320800"/>
            <a:ext cx="4578097" cy="447992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 Exploration:-</a:t>
            </a:r>
            <a:br>
              <a:rPr lang="en-US" dirty="0"/>
            </a:br>
            <a:r>
              <a:rPr lang="en-US" b="0" dirty="0"/>
              <a:t>The Tableau dashboard focuses on visual exploration of claims and portfolio data.</a:t>
            </a:r>
            <a:br>
              <a:rPr lang="en-US" b="0" dirty="0"/>
            </a:br>
            <a:r>
              <a:rPr lang="en-US" b="0" dirty="0"/>
              <a:t>It highlights patterns and distributions across solution groups and policy status.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Comparative Analysis:-</a:t>
            </a:r>
            <a:br>
              <a:rPr lang="en-US" dirty="0"/>
            </a:br>
            <a:r>
              <a:rPr lang="en-US" b="0" dirty="0"/>
              <a:t>Tableau enables easy comparison across categories and time periods.</a:t>
            </a:r>
            <a:br>
              <a:rPr lang="en-US" b="0" dirty="0"/>
            </a:br>
            <a:r>
              <a:rPr lang="en-US" b="0" dirty="0"/>
              <a:t>This helps identify high-risk and high-impact segments.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Insight Discovery:-</a:t>
            </a:r>
            <a:br>
              <a:rPr lang="en-US" dirty="0"/>
            </a:br>
            <a:r>
              <a:rPr lang="en-US" b="0" dirty="0"/>
              <a:t>Interactive visuals support faster insight discovery.</a:t>
            </a:r>
            <a:br>
              <a:rPr lang="en-US" b="0" dirty="0"/>
            </a:br>
            <a:r>
              <a:rPr lang="en-US" b="0" dirty="0"/>
              <a:t>They complement Power BI by offering an alternate analytical view.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66CEF8-035A-E06D-497F-755B5B1D6D9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303249" y="1320800"/>
            <a:ext cx="6457951" cy="44799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5EB3-350C-A4EA-BF4D-E3523CD9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22" y="446919"/>
            <a:ext cx="10803065" cy="557784"/>
          </a:xfrm>
        </p:spPr>
        <p:txBody>
          <a:bodyPr/>
          <a:lstStyle/>
          <a:p>
            <a:r>
              <a:rPr lang="en-IN" sz="4400" dirty="0"/>
              <a:t>SQL – Data Extraction &amp;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8A5A-AF53-B5FA-E603-5F649BB13C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7673" y="1189037"/>
            <a:ext cx="10496614" cy="4683126"/>
          </a:xfrm>
        </p:spPr>
        <p:txBody>
          <a:bodyPr>
            <a:normAutofit/>
          </a:bodyPr>
          <a:lstStyle/>
          <a:p>
            <a:r>
              <a:rPr lang="en-US" sz="2000" b="1" dirty="0"/>
              <a:t>SQL Usage in the Project:-</a:t>
            </a:r>
            <a:br>
              <a:rPr lang="en-US" sz="2000" dirty="0"/>
            </a:br>
            <a:r>
              <a:rPr lang="en-US" sz="2000" dirty="0"/>
              <a:t>SQL was used to query the cleaned and merged insurance master dataset.</a:t>
            </a:r>
            <a:br>
              <a:rPr lang="en-US" sz="2000" dirty="0"/>
            </a:br>
            <a:r>
              <a:rPr lang="en-US" sz="2000" dirty="0"/>
              <a:t>It enabled structured extraction of portfolio and claims information.</a:t>
            </a:r>
          </a:p>
          <a:p>
            <a:r>
              <a:rPr lang="en-US" sz="2000" b="1" dirty="0"/>
              <a:t>Analytical Operations:-</a:t>
            </a:r>
            <a:br>
              <a:rPr lang="en-US" sz="2000" dirty="0"/>
            </a:br>
            <a:r>
              <a:rPr lang="en-US" sz="2000" dirty="0"/>
              <a:t>SQL queries were written to filter data, calculate aggregations, and group records.</a:t>
            </a:r>
            <a:br>
              <a:rPr lang="en-US" sz="2000" dirty="0"/>
            </a:br>
            <a:r>
              <a:rPr lang="en-US" sz="2000" dirty="0"/>
              <a:t>This helped derive KPIs such as total policies, total claims, and premium amounts.</a:t>
            </a:r>
          </a:p>
          <a:p>
            <a:r>
              <a:rPr lang="en-US" sz="2000" b="1" dirty="0"/>
              <a:t>Data Accuracy &amp; Validation:-</a:t>
            </a:r>
            <a:br>
              <a:rPr lang="en-US" sz="2000" dirty="0"/>
            </a:br>
            <a:r>
              <a:rPr lang="en-US" sz="2000" dirty="0"/>
              <a:t>SQL ensured consistency between the source data and BI dashboards.</a:t>
            </a:r>
            <a:br>
              <a:rPr lang="en-US" sz="2000" dirty="0"/>
            </a:br>
            <a:r>
              <a:rPr lang="en-US" sz="2000" dirty="0"/>
              <a:t>The query results were cross-validated with Excel and Power BI outputs.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7D723-C193-D7F9-E8E1-4829194AF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26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78AC0B-C777-7753-904B-A206EAC73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562356"/>
            <a:ext cx="10363009" cy="557784"/>
          </a:xfrm>
        </p:spPr>
        <p:txBody>
          <a:bodyPr/>
          <a:lstStyle/>
          <a:p>
            <a:r>
              <a:rPr lang="en-IN" sz="4400" dirty="0"/>
              <a:t>CHALLENGES, KEY TAKEAWAYS ,    INSIGHTS &amp; Conclusion: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015221-822D-7824-B649-71E0574C9B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6392" y="1934654"/>
            <a:ext cx="10479215" cy="45947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Challenges Faced : -                                                                                                                                       </a:t>
            </a:r>
            <a:r>
              <a:rPr lang="en-US" sz="2000" dirty="0"/>
              <a:t>Handling multiple insurance datasets required careful cleaning and standardization.</a:t>
            </a:r>
            <a:br>
              <a:rPr lang="en-US" sz="2000" dirty="0"/>
            </a:br>
            <a:r>
              <a:rPr lang="en-US" sz="2000" dirty="0"/>
              <a:t>Merging data from different sources while maintaining accuracy was challenging.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Key Takeaways:-                                                                                                                                                                </a:t>
            </a:r>
            <a:r>
              <a:rPr lang="en-US" sz="2000" dirty="0"/>
              <a:t>Data quality plays a critical role in generating reliable insights.</a:t>
            </a:r>
            <a:br>
              <a:rPr lang="en-US" sz="2000" dirty="0"/>
            </a:br>
            <a:r>
              <a:rPr lang="en-US" sz="2000" dirty="0"/>
              <a:t>Clear KPIs and simple dashboards improve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Key Insights:-                                                                                                                                                                  </a:t>
            </a:r>
            <a:r>
              <a:rPr lang="en-US" sz="2000" dirty="0"/>
              <a:t>Claims are concentrated in specific solution groups and policy statuses.</a:t>
            </a:r>
            <a:br>
              <a:rPr lang="en-US" sz="2000" dirty="0"/>
            </a:br>
            <a:r>
              <a:rPr lang="en-US" sz="2000" dirty="0"/>
              <a:t>Active and renewed policies contribute most to portfolio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Business Observations:-</a:t>
            </a:r>
            <a:br>
              <a:rPr lang="en-US" sz="2000" dirty="0"/>
            </a:br>
            <a:r>
              <a:rPr lang="en-US" sz="2000" dirty="0"/>
              <a:t>Certain policy age groups and products show higher claim amounts.</a:t>
            </a:r>
            <a:br>
              <a:rPr lang="en-US" sz="2000" dirty="0"/>
            </a:br>
            <a:r>
              <a:rPr lang="en-US" sz="2000" dirty="0"/>
              <a:t>This indicates areas requiring closer risk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Conclusion:-</a:t>
            </a:r>
            <a:br>
              <a:rPr lang="en-US" sz="2000" b="1" dirty="0"/>
            </a:br>
            <a:r>
              <a:rPr lang="en-US" sz="2000" dirty="0"/>
              <a:t>The project successfully applied data analytics techniques to insurance portfolio and claims data.</a:t>
            </a:r>
            <a:br>
              <a:rPr lang="en-US" sz="2000" dirty="0"/>
            </a:br>
            <a:r>
              <a:rPr lang="en-US" sz="2000" dirty="0"/>
              <a:t>It demonstrated how raw data can be transformed into actionable business insights</a:t>
            </a:r>
            <a:endParaRPr lang="en-I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3F888-4D09-A394-E69F-64F1162563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19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142369"/>
            <a:ext cx="11867535" cy="3172831"/>
          </a:xfrm>
        </p:spPr>
        <p:txBody>
          <a:bodyPr/>
          <a:lstStyle/>
          <a:p>
            <a:r>
              <a:rPr lang="en-US" sz="6000" dirty="0"/>
              <a:t>Thank You</a:t>
            </a:r>
          </a:p>
          <a:p>
            <a:r>
              <a:rPr lang="en-US" sz="3600" dirty="0"/>
              <a:t> Thank you for your time and attention.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948</TotalTime>
  <Words>1343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Light</vt:lpstr>
      <vt:lpstr>Arial</vt:lpstr>
      <vt:lpstr>Calibri</vt:lpstr>
      <vt:lpstr>Custom</vt:lpstr>
      <vt:lpstr>Data Analytics Final Project          </vt:lpstr>
      <vt:lpstr>PowerPoint Presentation</vt:lpstr>
      <vt:lpstr>Agenda:</vt:lpstr>
      <vt:lpstr>Project introduction:</vt:lpstr>
      <vt:lpstr>PowerPoint Presentation</vt:lpstr>
      <vt:lpstr>PROJECT OBJECTIVES:</vt:lpstr>
      <vt:lpstr>DATASET OVERVIEW:  </vt:lpstr>
      <vt:lpstr>DATA CLEANING &amp; MERGING:</vt:lpstr>
      <vt:lpstr>TOOLS &amp; TECHNOLOGIES USED:</vt:lpstr>
      <vt:lpstr>KEY PERFORMANCE INDICATORS (KPIs): </vt:lpstr>
      <vt:lpstr>POWER BI DASHBOARD OVERVIEW: </vt:lpstr>
      <vt:lpstr> </vt:lpstr>
      <vt:lpstr>EXCEL ANALYSIS &amp; DATA VALIDATION:</vt:lpstr>
      <vt:lpstr>TABLEAU DASHBOARD OVERVIEW: </vt:lpstr>
      <vt:lpstr>SQL – Data Extraction &amp; Analysis:</vt:lpstr>
      <vt:lpstr>CHALLENGES, KEY TAKEAWAYS ,    INSIGHTS &amp; Conclusion: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Mohith</dc:creator>
  <cp:lastModifiedBy>Krishna Mohith</cp:lastModifiedBy>
  <cp:revision>9</cp:revision>
  <dcterms:created xsi:type="dcterms:W3CDTF">2026-01-28T08:12:34Z</dcterms:created>
  <dcterms:modified xsi:type="dcterms:W3CDTF">2026-01-30T14:29:02Z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